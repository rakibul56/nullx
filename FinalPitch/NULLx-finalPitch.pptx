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Playfair Display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Source Code Pro"/>
      <p:regular r:id="rId45"/>
      <p:bold r:id="rId46"/>
      <p:italic r:id="rId47"/>
      <p:boldItalic r:id="rId48"/>
    </p:embeddedFont>
    <p:embeddedFont>
      <p:font typeface="Oswald"/>
      <p:regular r:id="rId49"/>
      <p:bold r:id="rId50"/>
    </p:embeddedFont>
    <p:embeddedFont>
      <p:font typeface="Bree Serif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52" roundtripDataSignature="AMtx7mg8lT/dILW1Ot5mX7DWGxIZVIG1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fairDisplay-boldItalic.fntdata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44" Type="http://schemas.openxmlformats.org/officeDocument/2006/relationships/font" Target="fonts/Lato-boldItalic.fntdata"/><Relationship Id="rId43" Type="http://schemas.openxmlformats.org/officeDocument/2006/relationships/font" Target="fonts/Lato-italic.fntdata"/><Relationship Id="rId46" Type="http://schemas.openxmlformats.org/officeDocument/2006/relationships/font" Target="fonts/SourceCodePro-bold.fntdata"/><Relationship Id="rId45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SourceCodePro-boldItalic.fntdata"/><Relationship Id="rId47" Type="http://schemas.openxmlformats.org/officeDocument/2006/relationships/font" Target="fonts/SourceCodePro-italic.fntdata"/><Relationship Id="rId49" Type="http://schemas.openxmlformats.org/officeDocument/2006/relationships/font" Target="fonts/Oswald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font" Target="fonts/Roboto-regular.fntdata"/><Relationship Id="rId32" Type="http://schemas.openxmlformats.org/officeDocument/2006/relationships/slide" Target="slides/slide28.xml"/><Relationship Id="rId35" Type="http://schemas.openxmlformats.org/officeDocument/2006/relationships/font" Target="fonts/Roboto-italic.fntdata"/><Relationship Id="rId34" Type="http://schemas.openxmlformats.org/officeDocument/2006/relationships/font" Target="fonts/Roboto-bold.fntdata"/><Relationship Id="rId37" Type="http://schemas.openxmlformats.org/officeDocument/2006/relationships/font" Target="fonts/PlayfairDisplay-regular.fntdata"/><Relationship Id="rId36" Type="http://schemas.openxmlformats.org/officeDocument/2006/relationships/font" Target="fonts/Roboto-boldItalic.fntdata"/><Relationship Id="rId39" Type="http://schemas.openxmlformats.org/officeDocument/2006/relationships/font" Target="fonts/PlayfairDisplay-italic.fntdata"/><Relationship Id="rId38" Type="http://schemas.openxmlformats.org/officeDocument/2006/relationships/font" Target="fonts/PlayfairDisplay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BreeSerif-regular.fntdata"/><Relationship Id="rId50" Type="http://schemas.openxmlformats.org/officeDocument/2006/relationships/font" Target="fonts/Oswald-bold.fntdata"/><Relationship Id="rId52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2951e47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c2951e47b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2951e47bf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c2951e47b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84b7fe51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84b7fe5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9e7b0be8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9e7b0be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84b7fe51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84b7fe5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ca84498fe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ca84498fe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ca84498fe9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ca84498fe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ca84498fe9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ca84498fe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c84b7fe519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c84b7fe519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9e7b0be8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c9e7b0be8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c938704ec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c938704e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c9e7b0be8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c9e7b0be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ca339f448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ca339f44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ca8234f2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ca8234f2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ca6b15bec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ca6b15bec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ca6b15bec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ca6b15be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c9f745e0ac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c9f745e0a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c938704ec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c938704e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c938704ec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c938704e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caa72f3f71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caa72f3f7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ca8234f2d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ca8234f2d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c84b7fe51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c84b7fe5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caa72f3f71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caa72f3f7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caa72f499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caa72f49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caa72f3f71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caa72f3f7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caa72f3f71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caa72f3f7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caa72f3f71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caa72f3f7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ca8234f2d9_0_335"/>
          <p:cNvSpPr/>
          <p:nvPr/>
        </p:nvSpPr>
        <p:spPr>
          <a:xfrm rot="10800000">
            <a:off x="5634700" y="3911300"/>
            <a:ext cx="922500" cy="5181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gca8234f2d9_0_335"/>
          <p:cNvSpPr/>
          <p:nvPr/>
        </p:nvSpPr>
        <p:spPr>
          <a:xfrm>
            <a:off x="-33" y="0"/>
            <a:ext cx="12192000" cy="4165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gca8234f2d9_0_335"/>
          <p:cNvSpPr txBox="1"/>
          <p:nvPr>
            <p:ph type="ctrTitle"/>
          </p:nvPr>
        </p:nvSpPr>
        <p:spPr>
          <a:xfrm>
            <a:off x="548233" y="859067"/>
            <a:ext cx="11043300" cy="2811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gca8234f2d9_0_335"/>
          <p:cNvSpPr txBox="1"/>
          <p:nvPr>
            <p:ph idx="1" type="subTitle"/>
          </p:nvPr>
        </p:nvSpPr>
        <p:spPr>
          <a:xfrm>
            <a:off x="548233" y="4531000"/>
            <a:ext cx="11043300" cy="1680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Oswald"/>
              <a:buNone/>
              <a:defRPr sz="48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gca8234f2d9_0_3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ca8234f2d9_0_341"/>
          <p:cNvSpPr/>
          <p:nvPr/>
        </p:nvSpPr>
        <p:spPr>
          <a:xfrm>
            <a:off x="0" y="2089800"/>
            <a:ext cx="12192000" cy="267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gca8234f2d9_0_341"/>
          <p:cNvSpPr txBox="1"/>
          <p:nvPr>
            <p:ph type="title"/>
          </p:nvPr>
        </p:nvSpPr>
        <p:spPr>
          <a:xfrm>
            <a:off x="574400" y="2519600"/>
            <a:ext cx="11043300" cy="20220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gca8234f2d9_0_3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gca8234f2d9_0_345"/>
          <p:cNvCxnSpPr/>
          <p:nvPr/>
        </p:nvCxnSpPr>
        <p:spPr>
          <a:xfrm>
            <a:off x="572267" y="1700769"/>
            <a:ext cx="818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gca8234f2d9_0_345"/>
          <p:cNvSpPr txBox="1"/>
          <p:nvPr>
            <p:ph type="title"/>
          </p:nvPr>
        </p:nvSpPr>
        <p:spPr>
          <a:xfrm>
            <a:off x="415600" y="496667"/>
            <a:ext cx="11360700" cy="97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gca8234f2d9_0_345"/>
          <p:cNvSpPr txBox="1"/>
          <p:nvPr>
            <p:ph idx="1" type="body"/>
          </p:nvPr>
        </p:nvSpPr>
        <p:spPr>
          <a:xfrm>
            <a:off x="415600" y="1958433"/>
            <a:ext cx="11360700" cy="413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ca8234f2d9_0_3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gca8234f2d9_0_350"/>
          <p:cNvCxnSpPr/>
          <p:nvPr/>
        </p:nvCxnSpPr>
        <p:spPr>
          <a:xfrm>
            <a:off x="572267" y="1700769"/>
            <a:ext cx="818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gca8234f2d9_0_350"/>
          <p:cNvSpPr txBox="1"/>
          <p:nvPr>
            <p:ph type="title"/>
          </p:nvPr>
        </p:nvSpPr>
        <p:spPr>
          <a:xfrm>
            <a:off x="415600" y="496667"/>
            <a:ext cx="11360700" cy="97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7" name="Google Shape;27;gca8234f2d9_0_350"/>
          <p:cNvSpPr txBox="1"/>
          <p:nvPr>
            <p:ph idx="1" type="body"/>
          </p:nvPr>
        </p:nvSpPr>
        <p:spPr>
          <a:xfrm>
            <a:off x="415600" y="1958433"/>
            <a:ext cx="5333100" cy="413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ca8234f2d9_0_350"/>
          <p:cNvSpPr txBox="1"/>
          <p:nvPr>
            <p:ph idx="2" type="body"/>
          </p:nvPr>
        </p:nvSpPr>
        <p:spPr>
          <a:xfrm>
            <a:off x="6443200" y="1958433"/>
            <a:ext cx="5333100" cy="413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gca8234f2d9_0_3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ca8234f2d9_0_356"/>
          <p:cNvSpPr txBox="1"/>
          <p:nvPr>
            <p:ph type="title"/>
          </p:nvPr>
        </p:nvSpPr>
        <p:spPr>
          <a:xfrm>
            <a:off x="415600" y="496667"/>
            <a:ext cx="11360700" cy="97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2" name="Google Shape;32;gca8234f2d9_0_35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gca8234f2d9_0_359"/>
          <p:cNvCxnSpPr/>
          <p:nvPr/>
        </p:nvCxnSpPr>
        <p:spPr>
          <a:xfrm>
            <a:off x="558233" y="1943716"/>
            <a:ext cx="818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gca8234f2d9_0_359"/>
          <p:cNvSpPr txBox="1"/>
          <p:nvPr>
            <p:ph type="title"/>
          </p:nvPr>
        </p:nvSpPr>
        <p:spPr>
          <a:xfrm>
            <a:off x="415600" y="8424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6" name="Google Shape;36;gca8234f2d9_0_359"/>
          <p:cNvSpPr txBox="1"/>
          <p:nvPr>
            <p:ph idx="1" type="body"/>
          </p:nvPr>
        </p:nvSpPr>
        <p:spPr>
          <a:xfrm>
            <a:off x="415600" y="2157605"/>
            <a:ext cx="3744000" cy="3934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gca8234f2d9_0_3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ca8234f2d9_0_364"/>
          <p:cNvSpPr txBox="1"/>
          <p:nvPr>
            <p:ph type="title"/>
          </p:nvPr>
        </p:nvSpPr>
        <p:spPr>
          <a:xfrm>
            <a:off x="653667" y="705200"/>
            <a:ext cx="7570800" cy="5447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gca8234f2d9_0_3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ca8234f2d9_0_367"/>
          <p:cNvSpPr/>
          <p:nvPr/>
        </p:nvSpPr>
        <p:spPr>
          <a:xfrm>
            <a:off x="6096000" y="233"/>
            <a:ext cx="6096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gca8234f2d9_0_367"/>
          <p:cNvCxnSpPr/>
          <p:nvPr/>
        </p:nvCxnSpPr>
        <p:spPr>
          <a:xfrm>
            <a:off x="6706233" y="5994000"/>
            <a:ext cx="769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gca8234f2d9_0_367"/>
          <p:cNvSpPr txBox="1"/>
          <p:nvPr>
            <p:ph type="title"/>
          </p:nvPr>
        </p:nvSpPr>
        <p:spPr>
          <a:xfrm>
            <a:off x="354000" y="1438333"/>
            <a:ext cx="5393700" cy="2385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100"/>
              <a:buNone/>
              <a:defRPr sz="6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gca8234f2d9_0_367"/>
          <p:cNvSpPr txBox="1"/>
          <p:nvPr>
            <p:ph idx="1" type="subTitle"/>
          </p:nvPr>
        </p:nvSpPr>
        <p:spPr>
          <a:xfrm>
            <a:off x="354000" y="38952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gca8234f2d9_0_367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ca8234f2d9_0_36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ca8234f2d9_0_374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swald"/>
              <a:buNone/>
              <a:defRPr sz="28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gca8234f2d9_0_37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gca8234f2d9_0_377"/>
          <p:cNvCxnSpPr/>
          <p:nvPr/>
        </p:nvCxnSpPr>
        <p:spPr>
          <a:xfrm>
            <a:off x="551033" y="3984367"/>
            <a:ext cx="1214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gca8234f2d9_0_37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4" name="Google Shape;54;gca8234f2d9_0_37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5" name="Google Shape;55;gca8234f2d9_0_3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a8234f2d9_0_3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rgbClr val="F3F3F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a8234f2d9_0_384"/>
          <p:cNvSpPr txBox="1"/>
          <p:nvPr>
            <p:ph type="title"/>
          </p:nvPr>
        </p:nvSpPr>
        <p:spPr>
          <a:xfrm>
            <a:off x="2417873" y="758952"/>
            <a:ext cx="73563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nsolas"/>
              <a:buNone/>
              <a:defRPr b="0" sz="80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ca8234f2d9_0_384"/>
          <p:cNvSpPr txBox="1"/>
          <p:nvPr>
            <p:ph idx="1" type="body"/>
          </p:nvPr>
        </p:nvSpPr>
        <p:spPr>
          <a:xfrm>
            <a:off x="2417873" y="4663440"/>
            <a:ext cx="7356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61" name="Google Shape;61;gca8234f2d9_0_384"/>
          <p:cNvCxnSpPr/>
          <p:nvPr/>
        </p:nvCxnSpPr>
        <p:spPr>
          <a:xfrm>
            <a:off x="1158240" y="4485132"/>
            <a:ext cx="98754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gca8234f2d9_0_384"/>
          <p:cNvSpPr txBox="1"/>
          <p:nvPr>
            <p:ph idx="10" type="dt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ca8234f2d9_0_384"/>
          <p:cNvSpPr txBox="1"/>
          <p:nvPr>
            <p:ph idx="11" type="ftr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ca8234f2d9_0_384"/>
          <p:cNvSpPr txBox="1"/>
          <p:nvPr>
            <p:ph idx="12" type="sldNum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gca8234f2d9_0_384"/>
          <p:cNvSpPr/>
          <p:nvPr/>
        </p:nvSpPr>
        <p:spPr>
          <a:xfrm>
            <a:off x="10429390" y="360726"/>
            <a:ext cx="1035900" cy="10359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gca8234f2d9_0_384"/>
          <p:cNvSpPr/>
          <p:nvPr/>
        </p:nvSpPr>
        <p:spPr>
          <a:xfrm>
            <a:off x="10337662" y="4398630"/>
            <a:ext cx="1700400" cy="17004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" name="Google Shape;67;gca8234f2d9_0_384"/>
          <p:cNvSpPr/>
          <p:nvPr/>
        </p:nvSpPr>
        <p:spPr>
          <a:xfrm>
            <a:off x="11634902" y="2565781"/>
            <a:ext cx="283500" cy="28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" name="Google Shape;68;gca8234f2d9_0_384"/>
          <p:cNvSpPr/>
          <p:nvPr/>
        </p:nvSpPr>
        <p:spPr>
          <a:xfrm>
            <a:off x="458087" y="5430446"/>
            <a:ext cx="99000" cy="9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" name="Google Shape;69;gca8234f2d9_0_384"/>
          <p:cNvSpPr/>
          <p:nvPr/>
        </p:nvSpPr>
        <p:spPr>
          <a:xfrm>
            <a:off x="6135" y="0"/>
            <a:ext cx="1700400" cy="1700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70" name="Google Shape;70;gca8234f2d9_0_384"/>
          <p:cNvGrpSpPr/>
          <p:nvPr/>
        </p:nvGrpSpPr>
        <p:grpSpPr>
          <a:xfrm>
            <a:off x="495300" y="0"/>
            <a:ext cx="11201400" cy="6880860"/>
            <a:chOff x="495300" y="0"/>
            <a:chExt cx="11201400" cy="6880860"/>
          </a:xfrm>
        </p:grpSpPr>
        <p:sp>
          <p:nvSpPr>
            <p:cNvPr id="71" name="Google Shape;71;gca8234f2d9_0_384"/>
            <p:cNvSpPr/>
            <p:nvPr/>
          </p:nvSpPr>
          <p:spPr>
            <a:xfrm>
              <a:off x="495300" y="0"/>
              <a:ext cx="1337265" cy="6880860"/>
            </a:xfrm>
            <a:custGeom>
              <a:rect b="b" l="l" r="r" t="t"/>
              <a:pathLst>
                <a:path extrusionOk="0" h="6880860" w="1337265">
                  <a:moveTo>
                    <a:pt x="1173967" y="0"/>
                  </a:moveTo>
                  <a:lnTo>
                    <a:pt x="1319300" y="0"/>
                  </a:lnTo>
                  <a:lnTo>
                    <a:pt x="1204253" y="146399"/>
                  </a:lnTo>
                  <a:cubicBezTo>
                    <a:pt x="519693" y="1061765"/>
                    <a:pt x="114300" y="2198040"/>
                    <a:pt x="114300" y="3429000"/>
                  </a:cubicBezTo>
                  <a:cubicBezTo>
                    <a:pt x="114300" y="4659960"/>
                    <a:pt x="519693" y="5796235"/>
                    <a:pt x="1204253" y="6711601"/>
                  </a:cubicBezTo>
                  <a:lnTo>
                    <a:pt x="1337265" y="6880860"/>
                  </a:lnTo>
                  <a:lnTo>
                    <a:pt x="1191931" y="6880860"/>
                  </a:lnTo>
                  <a:lnTo>
                    <a:pt x="1112661" y="6779988"/>
                  </a:lnTo>
                  <a:cubicBezTo>
                    <a:pt x="413839" y="5845552"/>
                    <a:pt x="0" y="4685605"/>
                    <a:pt x="0" y="3429000"/>
                  </a:cubicBezTo>
                  <a:cubicBezTo>
                    <a:pt x="0" y="2172395"/>
                    <a:pt x="413839" y="1012448"/>
                    <a:pt x="1112661" y="78012"/>
                  </a:cubicBezTo>
                  <a:lnTo>
                    <a:pt x="117396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2" name="Google Shape;72;gca8234f2d9_0_384"/>
            <p:cNvSpPr/>
            <p:nvPr/>
          </p:nvSpPr>
          <p:spPr>
            <a:xfrm>
              <a:off x="10359435" y="0"/>
              <a:ext cx="1337265" cy="6880860"/>
            </a:xfrm>
            <a:custGeom>
              <a:rect b="b" l="l" r="r" t="t"/>
              <a:pathLst>
                <a:path extrusionOk="0" h="6880860" w="1337265">
                  <a:moveTo>
                    <a:pt x="17965" y="0"/>
                  </a:moveTo>
                  <a:lnTo>
                    <a:pt x="163299" y="0"/>
                  </a:lnTo>
                  <a:lnTo>
                    <a:pt x="224604" y="78012"/>
                  </a:lnTo>
                  <a:cubicBezTo>
                    <a:pt x="923426" y="1012448"/>
                    <a:pt x="1337265" y="2172395"/>
                    <a:pt x="1337265" y="3429000"/>
                  </a:cubicBezTo>
                  <a:cubicBezTo>
                    <a:pt x="1337265" y="4685605"/>
                    <a:pt x="923426" y="5845552"/>
                    <a:pt x="224604" y="6779988"/>
                  </a:cubicBezTo>
                  <a:lnTo>
                    <a:pt x="145334" y="6880860"/>
                  </a:lnTo>
                  <a:lnTo>
                    <a:pt x="0" y="6880860"/>
                  </a:lnTo>
                  <a:lnTo>
                    <a:pt x="133012" y="6711601"/>
                  </a:lnTo>
                  <a:cubicBezTo>
                    <a:pt x="817572" y="5796235"/>
                    <a:pt x="1222965" y="4659960"/>
                    <a:pt x="1222965" y="3429000"/>
                  </a:cubicBezTo>
                  <a:cubicBezTo>
                    <a:pt x="1222965" y="2198040"/>
                    <a:pt x="817572" y="1061765"/>
                    <a:pt x="133012" y="146399"/>
                  </a:cubicBezTo>
                  <a:lnTo>
                    <a:pt x="1796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a8234f2d9_0_399"/>
          <p:cNvSpPr txBox="1"/>
          <p:nvPr>
            <p:ph idx="1" type="body"/>
          </p:nvPr>
        </p:nvSpPr>
        <p:spPr>
          <a:xfrm>
            <a:off x="1097280" y="2108201"/>
            <a:ext cx="10058400" cy="37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5" name="Google Shape;75;gca8234f2d9_0_399"/>
          <p:cNvSpPr txBox="1"/>
          <p:nvPr>
            <p:ph idx="10" type="dt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ca8234f2d9_0_399"/>
          <p:cNvSpPr txBox="1"/>
          <p:nvPr>
            <p:ph idx="11" type="ftr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ca8234f2d9_0_399"/>
          <p:cNvSpPr txBox="1"/>
          <p:nvPr>
            <p:ph idx="12" type="sldNum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8" name="Google Shape;78;gca8234f2d9_0_399"/>
          <p:cNvGrpSpPr/>
          <p:nvPr/>
        </p:nvGrpSpPr>
        <p:grpSpPr>
          <a:xfrm rot="5400000">
            <a:off x="-21545" y="1088376"/>
            <a:ext cx="909990" cy="98997"/>
            <a:chOff x="622418" y="280927"/>
            <a:chExt cx="2335704" cy="254100"/>
          </a:xfrm>
        </p:grpSpPr>
        <p:sp>
          <p:nvSpPr>
            <p:cNvPr id="79" name="Google Shape;79;gca8234f2d9_0_399"/>
            <p:cNvSpPr/>
            <p:nvPr/>
          </p:nvSpPr>
          <p:spPr>
            <a:xfrm>
              <a:off x="1038739" y="280927"/>
              <a:ext cx="254100" cy="25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0" name="Google Shape;80;gca8234f2d9_0_399"/>
            <p:cNvSpPr/>
            <p:nvPr/>
          </p:nvSpPr>
          <p:spPr>
            <a:xfrm>
              <a:off x="1455060" y="280927"/>
              <a:ext cx="254100" cy="254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1" name="Google Shape;81;gca8234f2d9_0_399"/>
            <p:cNvSpPr/>
            <p:nvPr/>
          </p:nvSpPr>
          <p:spPr>
            <a:xfrm>
              <a:off x="1871381" y="280927"/>
              <a:ext cx="254100" cy="254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2" name="Google Shape;82;gca8234f2d9_0_399"/>
            <p:cNvSpPr/>
            <p:nvPr/>
          </p:nvSpPr>
          <p:spPr>
            <a:xfrm>
              <a:off x="2287702" y="280927"/>
              <a:ext cx="254100" cy="25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3" name="Google Shape;83;gca8234f2d9_0_399"/>
            <p:cNvSpPr/>
            <p:nvPr/>
          </p:nvSpPr>
          <p:spPr>
            <a:xfrm>
              <a:off x="2704022" y="280927"/>
              <a:ext cx="254100" cy="254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4" name="Google Shape;84;gca8234f2d9_0_399"/>
            <p:cNvSpPr/>
            <p:nvPr/>
          </p:nvSpPr>
          <p:spPr>
            <a:xfrm>
              <a:off x="622418" y="280927"/>
              <a:ext cx="254100" cy="25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85" name="Google Shape;85;gca8234f2d9_0_399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onsolas"/>
              <a:buNone/>
              <a:defRPr sz="4000" cap="none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ca8234f2d9_0_399"/>
          <p:cNvSpPr/>
          <p:nvPr/>
        </p:nvSpPr>
        <p:spPr>
          <a:xfrm>
            <a:off x="10429390" y="360726"/>
            <a:ext cx="1035900" cy="10359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gca8234f2d9_0_399"/>
          <p:cNvSpPr/>
          <p:nvPr/>
        </p:nvSpPr>
        <p:spPr>
          <a:xfrm>
            <a:off x="5664570" y="125360"/>
            <a:ext cx="176400" cy="17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gca8234f2d9_0_399"/>
          <p:cNvSpPr/>
          <p:nvPr/>
        </p:nvSpPr>
        <p:spPr>
          <a:xfrm>
            <a:off x="458087" y="5430446"/>
            <a:ext cx="99000" cy="9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" name="Google Shape;89;gca8234f2d9_0_399"/>
          <p:cNvSpPr/>
          <p:nvPr/>
        </p:nvSpPr>
        <p:spPr>
          <a:xfrm>
            <a:off x="11383587" y="6035040"/>
            <a:ext cx="777000" cy="777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a8234f2d9_0_416"/>
          <p:cNvSpPr txBox="1"/>
          <p:nvPr>
            <p:ph idx="10" type="dt"/>
          </p:nvPr>
        </p:nvSpPr>
        <p:spPr>
          <a:xfrm>
            <a:off x="8218426" y="6446838"/>
            <a:ext cx="258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ca8234f2d9_0_416"/>
          <p:cNvSpPr txBox="1"/>
          <p:nvPr>
            <p:ph idx="11" type="ftr"/>
          </p:nvPr>
        </p:nvSpPr>
        <p:spPr>
          <a:xfrm>
            <a:off x="1097279" y="6446838"/>
            <a:ext cx="6818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ca8234f2d9_0_416"/>
          <p:cNvSpPr txBox="1"/>
          <p:nvPr>
            <p:ph idx="12" type="sldNum"/>
          </p:nvPr>
        </p:nvSpPr>
        <p:spPr>
          <a:xfrm>
            <a:off x="10993582" y="6446838"/>
            <a:ext cx="780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4" name="Google Shape;94;gca8234f2d9_0_416"/>
          <p:cNvGrpSpPr/>
          <p:nvPr/>
        </p:nvGrpSpPr>
        <p:grpSpPr>
          <a:xfrm rot="5400000">
            <a:off x="-21545" y="1088376"/>
            <a:ext cx="909990" cy="98997"/>
            <a:chOff x="622418" y="280927"/>
            <a:chExt cx="2335704" cy="254100"/>
          </a:xfrm>
        </p:grpSpPr>
        <p:sp>
          <p:nvSpPr>
            <p:cNvPr id="95" name="Google Shape;95;gca8234f2d9_0_416"/>
            <p:cNvSpPr/>
            <p:nvPr/>
          </p:nvSpPr>
          <p:spPr>
            <a:xfrm>
              <a:off x="1038739" y="280927"/>
              <a:ext cx="254100" cy="25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6" name="Google Shape;96;gca8234f2d9_0_416"/>
            <p:cNvSpPr/>
            <p:nvPr/>
          </p:nvSpPr>
          <p:spPr>
            <a:xfrm>
              <a:off x="1455060" y="280927"/>
              <a:ext cx="254100" cy="254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7" name="Google Shape;97;gca8234f2d9_0_416"/>
            <p:cNvSpPr/>
            <p:nvPr/>
          </p:nvSpPr>
          <p:spPr>
            <a:xfrm>
              <a:off x="1871381" y="280927"/>
              <a:ext cx="254100" cy="254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8" name="Google Shape;98;gca8234f2d9_0_416"/>
            <p:cNvSpPr/>
            <p:nvPr/>
          </p:nvSpPr>
          <p:spPr>
            <a:xfrm>
              <a:off x="2287702" y="280927"/>
              <a:ext cx="254100" cy="254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9" name="Google Shape;99;gca8234f2d9_0_416"/>
            <p:cNvSpPr/>
            <p:nvPr/>
          </p:nvSpPr>
          <p:spPr>
            <a:xfrm>
              <a:off x="2704022" y="280927"/>
              <a:ext cx="254100" cy="254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0" name="Google Shape;100;gca8234f2d9_0_416"/>
            <p:cNvSpPr/>
            <p:nvPr/>
          </p:nvSpPr>
          <p:spPr>
            <a:xfrm>
              <a:off x="622418" y="280927"/>
              <a:ext cx="254100" cy="254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01" name="Google Shape;101;gca8234f2d9_0_416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onsolas"/>
              <a:buNone/>
              <a:defRPr sz="4000" cap="none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ca8234f2d9_0_416"/>
          <p:cNvSpPr/>
          <p:nvPr/>
        </p:nvSpPr>
        <p:spPr>
          <a:xfrm>
            <a:off x="10429390" y="360726"/>
            <a:ext cx="1035900" cy="1035900"/>
          </a:xfrm>
          <a:prstGeom prst="ellipse">
            <a:avLst/>
          </a:prstGeom>
          <a:noFill/>
          <a:ln cap="flat" cmpd="sng" w="3810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3" name="Google Shape;103;gca8234f2d9_0_416"/>
          <p:cNvSpPr/>
          <p:nvPr/>
        </p:nvSpPr>
        <p:spPr>
          <a:xfrm>
            <a:off x="458087" y="5430446"/>
            <a:ext cx="99000" cy="9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gca8234f2d9_0_416"/>
          <p:cNvSpPr/>
          <p:nvPr/>
        </p:nvSpPr>
        <p:spPr>
          <a:xfrm>
            <a:off x="5664570" y="125360"/>
            <a:ext cx="176400" cy="1764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5" name="Google Shape;105;gca8234f2d9_0_416"/>
          <p:cNvSpPr/>
          <p:nvPr/>
        </p:nvSpPr>
        <p:spPr>
          <a:xfrm>
            <a:off x="11383587" y="6035040"/>
            <a:ext cx="777000" cy="777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ca8234f2d9_0_331"/>
          <p:cNvSpPr txBox="1"/>
          <p:nvPr>
            <p:ph type="title"/>
          </p:nvPr>
        </p:nvSpPr>
        <p:spPr>
          <a:xfrm>
            <a:off x="415600" y="496667"/>
            <a:ext cx="113607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gca8234f2d9_0_331"/>
          <p:cNvSpPr txBox="1"/>
          <p:nvPr>
            <p:ph idx="1" type="body"/>
          </p:nvPr>
        </p:nvSpPr>
        <p:spPr>
          <a:xfrm>
            <a:off x="415600" y="1958433"/>
            <a:ext cx="11360700" cy="41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Code Pro"/>
              <a:buChar char="●"/>
              <a:defRPr sz="24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●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○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Source Code Pro"/>
              <a:buChar char="■"/>
              <a:defRPr sz="1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gca8234f2d9_0_3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bit.ly/2NQxc02" TargetMode="External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hyperlink" Target="https://bit.ly/2NQxc02" TargetMode="External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microservices.io/patterns/decomposition/decompose-by-subdomain.html" TargetMode="External"/><Relationship Id="rId4" Type="http://schemas.openxmlformats.org/officeDocument/2006/relationships/hyperlink" Target="https://microservices.io/patterns/data/database-per-service.html" TargetMode="External"/><Relationship Id="rId5" Type="http://schemas.openxmlformats.org/officeDocument/2006/relationships/hyperlink" Target="https://microservices.io/patterns/data/saga.html" TargetMode="External"/><Relationship Id="rId6" Type="http://schemas.openxmlformats.org/officeDocument/2006/relationships/hyperlink" Target="https://microservices.io/patterns/apigateway.html" TargetMode="External"/><Relationship Id="rId7" Type="http://schemas.openxmlformats.org/officeDocument/2006/relationships/hyperlink" Target="https://microservices.io/patterns/deployment/service-per-container.html" TargetMode="External"/><Relationship Id="rId8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bit.ly/2NQxc02" TargetMode="External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2951e47bf_0_0"/>
          <p:cNvSpPr txBox="1"/>
          <p:nvPr/>
        </p:nvSpPr>
        <p:spPr>
          <a:xfrm>
            <a:off x="2900475" y="1593175"/>
            <a:ext cx="60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The </a:t>
            </a:r>
            <a:r>
              <a:rPr b="1" lang="en-US" sz="2800">
                <a:solidFill>
                  <a:schemeClr val="dk1"/>
                </a:solidFill>
                <a:latin typeface="Bree Serif"/>
                <a:ea typeface="Bree Serif"/>
                <a:cs typeface="Bree Serif"/>
                <a:sym typeface="Bree Serif"/>
              </a:rPr>
              <a:t>NULLx Learning Kit</a:t>
            </a:r>
            <a:endParaRPr b="1" i="0" sz="34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1" name="Google Shape;111;gc2951e47bf_0_0"/>
          <p:cNvSpPr txBox="1"/>
          <p:nvPr/>
        </p:nvSpPr>
        <p:spPr>
          <a:xfrm>
            <a:off x="3974250" y="4770275"/>
            <a:ext cx="424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Members:           Meshu Deb Nath </a:t>
            </a:r>
            <a:endParaRPr b="0" i="0" sz="1600" u="none" cap="none" strike="noStrike">
              <a:solidFill>
                <a:srgbClr val="000000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Diwakar Dangal</a:t>
            </a:r>
            <a:endParaRPr b="0" i="0" sz="1600" u="none" cap="none" strike="noStrike">
              <a:solidFill>
                <a:srgbClr val="000000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                                 Rakibul Islam</a:t>
            </a:r>
            <a:endParaRPr b="0" i="0" sz="1600" u="none" cap="none" strike="noStrike">
              <a:solidFill>
                <a:srgbClr val="000000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sp>
        <p:nvSpPr>
          <p:cNvPr id="112" name="Google Shape;112;gc2951e47bf_0_0"/>
          <p:cNvSpPr txBox="1"/>
          <p:nvPr/>
        </p:nvSpPr>
        <p:spPr>
          <a:xfrm>
            <a:off x="5349050" y="4062800"/>
            <a:ext cx="3236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Bree Serif"/>
                <a:ea typeface="Bree Serif"/>
                <a:cs typeface="Bree Serif"/>
                <a:sym typeface="Bree Serif"/>
              </a:rPr>
              <a:t>Presented by: </a:t>
            </a:r>
            <a:endParaRPr b="0" i="0" sz="1700" u="none" cap="none" strike="noStrike">
              <a:solidFill>
                <a:srgbClr val="000000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113" name="Google Shape;113;gc2951e47b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6522" y="2352096"/>
            <a:ext cx="2042915" cy="82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1156" y="241738"/>
            <a:ext cx="1637691" cy="1575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oy, shirt&#10;&#10;Description automatically generated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3437" y="1866837"/>
            <a:ext cx="4218650" cy="349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4736450" y="598188"/>
            <a:ext cx="5175000" cy="8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C4587"/>
                </a:solidFill>
                <a:latin typeface="Consolas"/>
                <a:ea typeface="Consolas"/>
                <a:cs typeface="Consolas"/>
                <a:sym typeface="Consolas"/>
              </a:rPr>
              <a:t>AGENDA</a:t>
            </a:r>
            <a:endParaRPr b="1" i="0" sz="65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Logo&#10;&#10;Description automatically generated" id="121" name="Google Shape;12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7925" y="5811900"/>
            <a:ext cx="990375" cy="97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2201759" y="2976717"/>
            <a:ext cx="28923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EE5C0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2201759" y="4827225"/>
            <a:ext cx="28923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993350" y="2183225"/>
            <a:ext cx="51750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Consolas"/>
              <a:buChar char="➢"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Who We Are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Consolas"/>
              <a:buChar char="➢"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Purpose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Consolas"/>
              <a:buChar char="➢"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Problem </a:t>
            </a: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Definitions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Consolas"/>
              <a:buChar char="➢"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Survey and their Results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Consolas"/>
              <a:buChar char="➢"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Solution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Consolas"/>
              <a:buChar char="➢"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Product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Consolas"/>
              <a:buChar char="➢"/>
            </a:pPr>
            <a:r>
              <a:rPr lang="en-US" sz="2700">
                <a:latin typeface="Consolas"/>
                <a:ea typeface="Consolas"/>
                <a:cs typeface="Consolas"/>
                <a:sym typeface="Consolas"/>
              </a:rPr>
              <a:t>Demonstration</a:t>
            </a:r>
            <a:endParaRPr sz="2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2951e47bf_3_0"/>
          <p:cNvSpPr txBox="1"/>
          <p:nvPr>
            <p:ph idx="1" type="body"/>
          </p:nvPr>
        </p:nvSpPr>
        <p:spPr>
          <a:xfrm>
            <a:off x="946475" y="2120675"/>
            <a:ext cx="5775600" cy="36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We </a:t>
            </a:r>
            <a:r>
              <a:rPr b="1" lang="en-US">
                <a:latin typeface="Lato"/>
                <a:ea typeface="Lato"/>
                <a:cs typeface="Lato"/>
                <a:sym typeface="Lato"/>
              </a:rPr>
              <a:t>NULLx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 are an online  Teaching and learning platform that is dedicated to delivering the best teaching solution to our customers based on Microservice patterns.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Lato"/>
              <a:buChar char="-"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We are providing education on </a:t>
            </a:r>
            <a:r>
              <a:rPr lang="en-US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Microservices pattern and supporting procedures</a:t>
            </a:r>
            <a:r>
              <a:rPr lang="en-US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through a WebShops (microservice demonstration) for using it as a teaching materials.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gc2951e47bf_3_0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457200" lvl="0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Who we Are? </a:t>
            </a:r>
            <a:endParaRPr/>
          </a:p>
        </p:txBody>
      </p:sp>
      <p:pic>
        <p:nvPicPr>
          <p:cNvPr id="131" name="Google Shape;131;gc2951e47bf_3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9159" y="5495371"/>
            <a:ext cx="2042915" cy="82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c2951e47bf_3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2600" y="2257313"/>
            <a:ext cx="4100926" cy="23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84b7fe519_0_0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Our company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38" name="Google Shape;138;gc84b7fe51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3124" y="2659525"/>
            <a:ext cx="4972250" cy="20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9e7b0be86_0_5"/>
          <p:cNvSpPr txBox="1"/>
          <p:nvPr>
            <p:ph idx="1" type="body"/>
          </p:nvPr>
        </p:nvSpPr>
        <p:spPr>
          <a:xfrm>
            <a:off x="4297650" y="702075"/>
            <a:ext cx="3954900" cy="10617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100">
                <a:latin typeface="Comic Sans MS"/>
                <a:ea typeface="Comic Sans MS"/>
                <a:cs typeface="Comic Sans MS"/>
                <a:sym typeface="Comic Sans MS"/>
              </a:rPr>
              <a:t>Purpose</a:t>
            </a:r>
            <a:endParaRPr b="1" sz="4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44" name="Google Shape;144;gc9e7b0be86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8675" y="1933300"/>
            <a:ext cx="4423500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c9e7b0be86_0_5"/>
          <p:cNvSpPr txBox="1"/>
          <p:nvPr/>
        </p:nvSpPr>
        <p:spPr>
          <a:xfrm>
            <a:off x="890425" y="2654150"/>
            <a:ext cx="6096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latin typeface="Comic Sans MS"/>
                <a:ea typeface="Comic Sans MS"/>
                <a:cs typeface="Comic Sans MS"/>
                <a:sym typeface="Comic Sans MS"/>
              </a:rPr>
              <a:t>Our purpose is to make the learning curve easier for the microservice patterns.</a:t>
            </a:r>
            <a:endParaRPr sz="29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6" name="Google Shape;146;gc9e7b0be86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4124" y="6224051"/>
            <a:ext cx="1075274" cy="43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c84b7fe519_0_10"/>
          <p:cNvSpPr/>
          <p:nvPr/>
        </p:nvSpPr>
        <p:spPr>
          <a:xfrm>
            <a:off x="627300" y="727540"/>
            <a:ext cx="5663100" cy="5638500"/>
          </a:xfrm>
          <a:prstGeom prst="ellipse">
            <a:avLst/>
          </a:prstGeom>
          <a:noFill/>
          <a:ln cap="flat" cmpd="sng" w="9525">
            <a:solidFill>
              <a:srgbClr val="C4C2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69138"/>
              </a:solidFill>
            </a:endParaRPr>
          </a:p>
        </p:txBody>
      </p:sp>
      <p:sp>
        <p:nvSpPr>
          <p:cNvPr id="152" name="Google Shape;152;gc84b7fe519_0_10"/>
          <p:cNvSpPr txBox="1"/>
          <p:nvPr/>
        </p:nvSpPr>
        <p:spPr>
          <a:xfrm>
            <a:off x="1289269" y="1461296"/>
            <a:ext cx="41100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Problem</a:t>
            </a:r>
            <a:endParaRPr b="1" sz="43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gc84b7fe519_0_10"/>
          <p:cNvSpPr txBox="1"/>
          <p:nvPr/>
        </p:nvSpPr>
        <p:spPr>
          <a:xfrm>
            <a:off x="-431800" y="2940725"/>
            <a:ext cx="6827700" cy="23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Lato"/>
              <a:buChar char="●"/>
            </a:pPr>
            <a:r>
              <a:rPr b="1" lang="en-US" sz="24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Complexity and Long Learning Curve</a:t>
            </a:r>
            <a:endParaRPr b="1" sz="24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Lato"/>
              <a:buChar char="●"/>
            </a:pPr>
            <a:r>
              <a:rPr b="1" lang="en-US" sz="24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No step by step learning Process</a:t>
            </a:r>
            <a:endParaRPr b="1" sz="24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omic Sans MS"/>
              <a:buChar char="●"/>
            </a:pPr>
            <a:r>
              <a:rPr b="1" lang="en-US" sz="24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Lack of Support</a:t>
            </a:r>
            <a:r>
              <a:rPr b="1" lang="en-US" sz="2400">
                <a:solidFill>
                  <a:srgbClr val="434343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b="1" sz="2400">
              <a:solidFill>
                <a:srgbClr val="43434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4" name="Google Shape;154;gc84b7fe519_0_10"/>
          <p:cNvSpPr txBox="1"/>
          <p:nvPr/>
        </p:nvSpPr>
        <p:spPr>
          <a:xfrm>
            <a:off x="10964208" y="2940719"/>
            <a:ext cx="710700" cy="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5" name="Google Shape;155;gc84b7fe519_0_10"/>
          <p:cNvGrpSpPr/>
          <p:nvPr/>
        </p:nvGrpSpPr>
        <p:grpSpPr>
          <a:xfrm rot="5400000">
            <a:off x="7860681" y="1500795"/>
            <a:ext cx="3414067" cy="1255146"/>
            <a:chOff x="2902040" y="3090298"/>
            <a:chExt cx="2647385" cy="969000"/>
          </a:xfrm>
        </p:grpSpPr>
        <p:cxnSp>
          <p:nvCxnSpPr>
            <p:cNvPr id="156" name="Google Shape;156;gc84b7fe519_0_10"/>
            <p:cNvCxnSpPr/>
            <p:nvPr/>
          </p:nvCxnSpPr>
          <p:spPr>
            <a:xfrm rot="10800000">
              <a:off x="3685825" y="3574800"/>
              <a:ext cx="1863600" cy="0"/>
            </a:xfrm>
            <a:prstGeom prst="straightConnector1">
              <a:avLst/>
            </a:prstGeom>
            <a:noFill/>
            <a:ln cap="flat" cmpd="sng" w="9525">
              <a:solidFill>
                <a:srgbClr val="EE5C0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" name="Google Shape;157;gc84b7fe519_0_10"/>
            <p:cNvSpPr/>
            <p:nvPr/>
          </p:nvSpPr>
          <p:spPr>
            <a:xfrm rot="-1371778">
              <a:off x="3016683" y="3204941"/>
              <a:ext cx="739714" cy="739714"/>
            </a:xfrm>
            <a:prstGeom prst="star8">
              <a:avLst>
                <a:gd fmla="val 22215" name="adj"/>
              </a:avLst>
            </a:prstGeom>
            <a:solidFill>
              <a:srgbClr val="EE5C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58" name="Google Shape;158;gc84b7fe519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0838" y="2940725"/>
            <a:ext cx="2321382" cy="37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c84b7fe519_0_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304" y="1356850"/>
            <a:ext cx="1926000" cy="134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c84b7fe519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ca84498fe9_1_0"/>
          <p:cNvSpPr txBox="1"/>
          <p:nvPr>
            <p:ph type="title"/>
          </p:nvPr>
        </p:nvSpPr>
        <p:spPr>
          <a:xfrm>
            <a:off x="1097275" y="421825"/>
            <a:ext cx="10058400" cy="8640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Survey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Forms response chart. Question title: Do you like online teaching Platforms?. Number of responses: 23 responses." id="166" name="Google Shape;166;gca84498fe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500" y="1610075"/>
            <a:ext cx="10373715" cy="4368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ca84498fe9_1_0"/>
          <p:cNvSpPr txBox="1"/>
          <p:nvPr/>
        </p:nvSpPr>
        <p:spPr>
          <a:xfrm>
            <a:off x="939675" y="6068900"/>
            <a:ext cx="41874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1" marL="914400" rtl="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Consolas"/>
              <a:buChar char="○"/>
            </a:pPr>
            <a:r>
              <a:rPr lang="en-US" sz="1750">
                <a:solidFill>
                  <a:srgbClr val="0236B9"/>
                </a:solidFill>
                <a:highlight>
                  <a:schemeClr val="lt1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https://bit.ly/2NQxc02</a:t>
            </a:r>
            <a:endParaRPr sz="2500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gca84498fe9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ca84498fe9_1_7"/>
          <p:cNvSpPr txBox="1"/>
          <p:nvPr/>
        </p:nvSpPr>
        <p:spPr>
          <a:xfrm>
            <a:off x="825805" y="228592"/>
            <a:ext cx="100584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Survey Result</a:t>
            </a:r>
            <a:endParaRPr sz="3800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" name="Google Shape;174;gca84498fe9_1_7"/>
          <p:cNvSpPr txBox="1"/>
          <p:nvPr/>
        </p:nvSpPr>
        <p:spPr>
          <a:xfrm>
            <a:off x="1023950" y="1509725"/>
            <a:ext cx="547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Topic: Information of the topic ?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5" name="Google Shape;175;gca84498fe9_1_7"/>
          <p:cNvSpPr txBox="1"/>
          <p:nvPr/>
        </p:nvSpPr>
        <p:spPr>
          <a:xfrm>
            <a:off x="1224650" y="2653400"/>
            <a:ext cx="97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Forms response chart. Question title: Do you know about the Microservices architecture patterns and wanted to learn more?. Number of responses: 17 responses." id="176" name="Google Shape;176;gca84498fe9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75" y="1961650"/>
            <a:ext cx="10732650" cy="45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ca84498fe9_1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ca84498fe9_1_20"/>
          <p:cNvSpPr txBox="1"/>
          <p:nvPr/>
        </p:nvSpPr>
        <p:spPr>
          <a:xfrm>
            <a:off x="825805" y="152392"/>
            <a:ext cx="100584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Survey Result</a:t>
            </a:r>
            <a:endParaRPr sz="3800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3" name="Google Shape;183;gca84498fe9_1_20"/>
          <p:cNvSpPr txBox="1"/>
          <p:nvPr/>
        </p:nvSpPr>
        <p:spPr>
          <a:xfrm>
            <a:off x="914400" y="1293000"/>
            <a:ext cx="515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mic Sans MS"/>
                <a:ea typeface="Comic Sans MS"/>
                <a:cs typeface="Comic Sans MS"/>
                <a:sym typeface="Comic Sans MS"/>
              </a:rPr>
              <a:t>Topic: What they expect from education provider?</a:t>
            </a:r>
            <a:endParaRPr b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Forms response chart. Question title: What kind of resources do you expect while learning Microservices?. Number of responses: 17 responses." id="184" name="Google Shape;184;gca84498fe9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350" y="1725375"/>
            <a:ext cx="9387475" cy="446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ca84498fe9_1_20"/>
          <p:cNvSpPr txBox="1"/>
          <p:nvPr/>
        </p:nvSpPr>
        <p:spPr>
          <a:xfrm>
            <a:off x="1154000" y="6157550"/>
            <a:ext cx="47148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1" marL="914400" rtl="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500"/>
              <a:buFont typeface="Consolas"/>
              <a:buChar char="○"/>
            </a:pPr>
            <a:r>
              <a:rPr lang="en-US" sz="1750">
                <a:solidFill>
                  <a:srgbClr val="0236B9"/>
                </a:solidFill>
                <a:highlight>
                  <a:schemeClr val="lt1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https://bit.ly/2NQxc02</a:t>
            </a:r>
            <a:endParaRPr sz="2500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6" name="Google Shape;186;gca84498fe9_1_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c84b7fe519_0_62"/>
          <p:cNvSpPr txBox="1"/>
          <p:nvPr/>
        </p:nvSpPr>
        <p:spPr>
          <a:xfrm>
            <a:off x="6585965" y="2384375"/>
            <a:ext cx="4599000" cy="11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Solution</a:t>
            </a:r>
            <a:endParaRPr b="1" sz="36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2" name="Google Shape;192;gc84b7fe519_0_62"/>
          <p:cNvSpPr txBox="1"/>
          <p:nvPr/>
        </p:nvSpPr>
        <p:spPr>
          <a:xfrm>
            <a:off x="6341800" y="3425275"/>
            <a:ext cx="5235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Step by step learning process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Demonstrator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Interactive Learning tools</a:t>
            </a:r>
            <a:endParaRPr sz="24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3" name="Google Shape;193;gc84b7fe519_0_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225" y="667677"/>
            <a:ext cx="3611343" cy="45134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gc84b7fe519_0_62"/>
          <p:cNvGrpSpPr/>
          <p:nvPr/>
        </p:nvGrpSpPr>
        <p:grpSpPr>
          <a:xfrm rot="-5400000">
            <a:off x="3355534" y="739717"/>
            <a:ext cx="3592236" cy="1314836"/>
            <a:chOff x="2902040" y="3090298"/>
            <a:chExt cx="2647385" cy="969000"/>
          </a:xfrm>
        </p:grpSpPr>
        <p:cxnSp>
          <p:nvCxnSpPr>
            <p:cNvPr id="195" name="Google Shape;195;gc84b7fe519_0_62"/>
            <p:cNvCxnSpPr/>
            <p:nvPr/>
          </p:nvCxnSpPr>
          <p:spPr>
            <a:xfrm rot="10800000">
              <a:off x="3685825" y="3574800"/>
              <a:ext cx="1863600" cy="0"/>
            </a:xfrm>
            <a:prstGeom prst="straightConnector1">
              <a:avLst/>
            </a:prstGeom>
            <a:noFill/>
            <a:ln cap="flat" cmpd="sng" w="9525">
              <a:solidFill>
                <a:srgbClr val="EE5C0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" name="Google Shape;196;gc84b7fe519_0_62"/>
            <p:cNvSpPr/>
            <p:nvPr/>
          </p:nvSpPr>
          <p:spPr>
            <a:xfrm rot="-1371778">
              <a:off x="3016683" y="3204941"/>
              <a:ext cx="739714" cy="739714"/>
            </a:xfrm>
            <a:prstGeom prst="star8">
              <a:avLst>
                <a:gd fmla="val 22215" name="adj"/>
              </a:avLst>
            </a:prstGeom>
            <a:solidFill>
              <a:srgbClr val="EE5C0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7" name="Google Shape;197;gc84b7fe519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c9e7b0be86_0_11"/>
          <p:cNvSpPr txBox="1"/>
          <p:nvPr>
            <p:ph type="title"/>
          </p:nvPr>
        </p:nvSpPr>
        <p:spPr>
          <a:xfrm>
            <a:off x="1097275" y="421848"/>
            <a:ext cx="10058400" cy="53544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Product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3" name="Google Shape;203;gc9e7b0be86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c938704ec2_0_5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NULLx </a:t>
            </a: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Learning Kit</a:t>
            </a:r>
            <a:endParaRPr b="1" sz="3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 Homepage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9" name="Google Shape;209;gc938704ec2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925" y="1791025"/>
            <a:ext cx="7690427" cy="484762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gc938704ec2_0_5"/>
          <p:cNvSpPr txBox="1"/>
          <p:nvPr/>
        </p:nvSpPr>
        <p:spPr>
          <a:xfrm>
            <a:off x="8215350" y="2905650"/>
            <a:ext cx="3976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latin typeface="Bree Serif"/>
                <a:ea typeface="Bree Serif"/>
                <a:cs typeface="Bree Serif"/>
                <a:sym typeface="Bree Serif"/>
              </a:rPr>
              <a:t>Live at</a:t>
            </a:r>
            <a:endParaRPr sz="2900">
              <a:latin typeface="Bree Serif"/>
              <a:ea typeface="Bree Serif"/>
              <a:cs typeface="Bree Serif"/>
              <a:sym typeface="Bree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155CC"/>
                </a:solidFill>
                <a:latin typeface="Verdana"/>
                <a:ea typeface="Verdana"/>
                <a:cs typeface="Verdana"/>
                <a:sym typeface="Verdana"/>
              </a:rPr>
              <a:t>www.nullx-de.github.io/home/NULLxUI</a:t>
            </a:r>
            <a:endParaRPr b="1" sz="1300">
              <a:solidFill>
                <a:srgbClr val="1155C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11" name="Google Shape;211;gc938704ec2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c9e7b0be86_0_16"/>
          <p:cNvSpPr txBox="1"/>
          <p:nvPr>
            <p:ph type="title"/>
          </p:nvPr>
        </p:nvSpPr>
        <p:spPr>
          <a:xfrm>
            <a:off x="1097275" y="421848"/>
            <a:ext cx="10058400" cy="53544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Demonstration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(WebShop)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7" name="Google Shape;217;gc9e7b0be86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ca339f4486_0_0"/>
          <p:cNvSpPr txBox="1"/>
          <p:nvPr>
            <p:ph type="title"/>
          </p:nvPr>
        </p:nvSpPr>
        <p:spPr>
          <a:xfrm>
            <a:off x="1097275" y="421825"/>
            <a:ext cx="6332100" cy="478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Architecture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3" name="Google Shape;223;gca339f448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9650" y="1100600"/>
            <a:ext cx="7823000" cy="565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ca339f44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ca8234f2d9_0_0"/>
          <p:cNvSpPr txBox="1"/>
          <p:nvPr>
            <p:ph type="title"/>
          </p:nvPr>
        </p:nvSpPr>
        <p:spPr>
          <a:xfrm>
            <a:off x="1097275" y="421825"/>
            <a:ext cx="6332100" cy="478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Microservice Patterns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gca8234f2d9_0_0"/>
          <p:cNvSpPr txBox="1"/>
          <p:nvPr/>
        </p:nvSpPr>
        <p:spPr>
          <a:xfrm>
            <a:off x="1757375" y="1400175"/>
            <a:ext cx="85011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3"/>
              </a:rPr>
              <a:t>Domain-Driven Design Pattern</a:t>
            </a:r>
            <a:r>
              <a:rPr lang="en-US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>
                <a:latin typeface="Comic Sans MS"/>
                <a:ea typeface="Comic Sans MS"/>
                <a:cs typeface="Comic Sans MS"/>
                <a:sym typeface="Comic Sans MS"/>
              </a:rPr>
              <a:t>Define services corresponding to Domain-Driven Design (DDD) subdomains microservice pattern.</a:t>
            </a:r>
            <a:endParaRPr sz="16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4"/>
              </a:rPr>
              <a:t>Database per service Pattern</a:t>
            </a:r>
            <a:r>
              <a:rPr lang="en-US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>
                <a:latin typeface="Comic Sans MS"/>
                <a:ea typeface="Comic Sans MS"/>
                <a:cs typeface="Comic Sans MS"/>
                <a:sym typeface="Comic Sans MS"/>
              </a:rPr>
              <a:t>Most services need to persist data in some kind of database.</a:t>
            </a:r>
            <a:endParaRPr sz="16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5"/>
              </a:rPr>
              <a:t>Saga Pattern</a:t>
            </a:r>
            <a:r>
              <a:rPr lang="en-US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>
                <a:latin typeface="Comic Sans MS"/>
                <a:ea typeface="Comic Sans MS"/>
                <a:cs typeface="Comic Sans MS"/>
                <a:sym typeface="Comic Sans MS"/>
              </a:rPr>
              <a:t>A saga is a sequence of local transactions. Each local transaction updates the database and publishes a message or event to trigger the next local transaction in the saga.</a:t>
            </a:r>
            <a:endParaRPr sz="16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6"/>
              </a:rPr>
              <a:t>API Gateway / Backends for Frontends Pattern</a:t>
            </a:r>
            <a:r>
              <a:rPr lang="en-US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To give the clients of a Microservices-based application access the individual services.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 u="sng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  <a:hlinkClick r:id="rId7"/>
              </a:rPr>
              <a:t>Service Instance per container pattern</a:t>
            </a:r>
            <a:r>
              <a:rPr lang="en-US" sz="16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1600">
                <a:latin typeface="Consolas"/>
                <a:ea typeface="Consolas"/>
                <a:cs typeface="Consolas"/>
                <a:sym typeface="Consolas"/>
              </a:rPr>
              <a:t>All the services as a (Docker) container image and deploy each service instance as a container in the Kubernetes.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1" name="Google Shape;231;gca8234f2d9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ca6b15bec0_0_2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S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ervice Instance Per Container Pattern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7" name="Google Shape;237;gca6b15bec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125" y="1791025"/>
            <a:ext cx="8648699" cy="49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ca6b15bec0_0_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ca6b15bec0_0_8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Implementing API Gateway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Pattern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4" name="Google Shape;244;gca6b15bec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275" y="1738617"/>
            <a:ext cx="9905340" cy="4762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c9f745e0ac_1_4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Implementing Database per Service Pattern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50" name="Google Shape;250;gc9f745e0ac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75" y="2219650"/>
            <a:ext cx="7142450" cy="345445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c9f745e0ac_1_4"/>
          <p:cNvSpPr txBox="1"/>
          <p:nvPr/>
        </p:nvSpPr>
        <p:spPr>
          <a:xfrm>
            <a:off x="7858125" y="2357450"/>
            <a:ext cx="3943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n-US" sz="1500">
                <a:latin typeface="Lato"/>
                <a:ea typeface="Lato"/>
                <a:cs typeface="Lato"/>
                <a:sym typeface="Lato"/>
              </a:rPr>
              <a:t>Single Server Instance</a:t>
            </a:r>
            <a:br>
              <a:rPr lang="en-US" sz="1500">
                <a:latin typeface="Lato"/>
                <a:ea typeface="Lato"/>
                <a:cs typeface="Lato"/>
                <a:sym typeface="Lato"/>
              </a:rPr>
            </a:b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n-US" sz="1500">
                <a:latin typeface="Lato"/>
                <a:ea typeface="Lato"/>
                <a:cs typeface="Lato"/>
                <a:sym typeface="Lato"/>
              </a:rPr>
              <a:t>Multiple Database per microservice </a:t>
            </a:r>
            <a:endParaRPr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2" name="Google Shape;252;gc9f745e0ac_1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c938704ec2_0_0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Implementing SAGA Pattern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8" name="Google Shape;258;gc938704ec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200" y="2105350"/>
            <a:ext cx="8188649" cy="375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c938704ec2_0_0"/>
          <p:cNvSpPr txBox="1"/>
          <p:nvPr/>
        </p:nvSpPr>
        <p:spPr>
          <a:xfrm>
            <a:off x="8529650" y="2105350"/>
            <a:ext cx="3729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Lato"/>
                <a:ea typeface="Lato"/>
                <a:cs typeface="Lato"/>
                <a:sym typeface="Lato"/>
              </a:rPr>
              <a:t>Updating </a:t>
            </a:r>
            <a:r>
              <a:rPr b="1" lang="en-US">
                <a:latin typeface="Lato"/>
                <a:ea typeface="Lato"/>
                <a:cs typeface="Lato"/>
                <a:sym typeface="Lato"/>
              </a:rPr>
              <a:t>loosely</a:t>
            </a:r>
            <a:r>
              <a:rPr b="1" lang="en-US">
                <a:latin typeface="Lato"/>
                <a:ea typeface="Lato"/>
                <a:cs typeface="Lato"/>
                <a:sym typeface="Lato"/>
              </a:rPr>
              <a:t> coupled Database: 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 Updating Inventory database without AC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ID   transaction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 by event command.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Lato"/>
                <a:ea typeface="Lato"/>
                <a:cs typeface="Lato"/>
                <a:sym typeface="Lato"/>
              </a:rPr>
              <a:t>Error handling: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 A product stock out (quantity changed)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ato"/>
                <a:ea typeface="Lato"/>
                <a:cs typeface="Lato"/>
                <a:sym typeface="Lato"/>
              </a:rPr>
              <a:t> handled by SAGA 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choreography.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0" name="Google Shape;260;gc938704ec2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c938704ec2_0_10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000">
                <a:latin typeface="Comic Sans MS"/>
                <a:ea typeface="Comic Sans MS"/>
                <a:cs typeface="Comic Sans MS"/>
                <a:sym typeface="Comic Sans MS"/>
              </a:rPr>
              <a:t>Implementing Command Query Responsibility Segregation (CQRS) Pattern</a:t>
            </a:r>
            <a:endParaRPr sz="3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66" name="Google Shape;266;gc938704ec2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075" y="1867217"/>
            <a:ext cx="7283338" cy="4762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c938704ec2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caa72f3f71_0_23"/>
          <p:cNvSpPr txBox="1"/>
          <p:nvPr>
            <p:ph type="title"/>
          </p:nvPr>
        </p:nvSpPr>
        <p:spPr>
          <a:xfrm>
            <a:off x="1097275" y="421848"/>
            <a:ext cx="10058400" cy="53544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Live Demonstration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(WebShop)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Comic Sans MS"/>
                <a:ea typeface="Comic Sans MS"/>
                <a:cs typeface="Comic Sans MS"/>
                <a:sym typeface="Comic Sans MS"/>
              </a:rPr>
              <a:t>http://vsr-kub005.informatik.tu-chemnitz.de:30002/</a:t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73" name="Google Shape;273;gcaa72f3f71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ca8234f2d9_0_7"/>
          <p:cNvSpPr txBox="1"/>
          <p:nvPr>
            <p:ph type="title"/>
          </p:nvPr>
        </p:nvSpPr>
        <p:spPr>
          <a:xfrm>
            <a:off x="1097275" y="421848"/>
            <a:ext cx="10058400" cy="53544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Gitlab CI/CD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279" name="Google Shape;279;gca8234f2d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gc84b7fe519_0_5"/>
          <p:cNvPicPr preferRelativeResize="0"/>
          <p:nvPr/>
        </p:nvPicPr>
        <p:blipFill rotWithShape="1">
          <a:blip r:embed="rId3">
            <a:alphaModFix/>
          </a:blip>
          <a:srcRect b="0" l="1200" r="1200" t="0"/>
          <a:stretch/>
        </p:blipFill>
        <p:spPr>
          <a:xfrm>
            <a:off x="4636342" y="1934371"/>
            <a:ext cx="2919300" cy="2919300"/>
          </a:xfrm>
          <a:prstGeom prst="ellipse">
            <a:avLst/>
          </a:prstGeom>
          <a:solidFill>
            <a:srgbClr val="EDEFF7"/>
          </a:solidFill>
          <a:ln cap="flat" cmpd="sng" w="38100">
            <a:solidFill>
              <a:srgbClr val="61D83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gc84b7fe519_0_5"/>
          <p:cNvSpPr txBox="1"/>
          <p:nvPr/>
        </p:nvSpPr>
        <p:spPr>
          <a:xfrm>
            <a:off x="1097279" y="5486968"/>
            <a:ext cx="291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DIWAKAR DANGAL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gc84b7fe519_0_5"/>
          <p:cNvSpPr txBox="1"/>
          <p:nvPr/>
        </p:nvSpPr>
        <p:spPr>
          <a:xfrm>
            <a:off x="4666773" y="5486968"/>
            <a:ext cx="291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MESHU DEB NATH</a:t>
            </a:r>
            <a:endParaRPr b="1" sz="1800">
              <a:solidFill>
                <a:srgbClr val="3F3F3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gc84b7fe519_0_5"/>
          <p:cNvSpPr txBox="1"/>
          <p:nvPr/>
        </p:nvSpPr>
        <p:spPr>
          <a:xfrm>
            <a:off x="8236267" y="5486968"/>
            <a:ext cx="29193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F3F3F"/>
                </a:solidFill>
                <a:latin typeface="Consolas"/>
                <a:ea typeface="Consolas"/>
                <a:cs typeface="Consolas"/>
                <a:sym typeface="Consolas"/>
              </a:rPr>
              <a:t>RAKIBUL ISLAM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88" name="Google Shape;288;gc84b7fe519_0_5"/>
          <p:cNvPicPr preferRelativeResize="0"/>
          <p:nvPr/>
        </p:nvPicPr>
        <p:blipFill rotWithShape="1">
          <a:blip r:embed="rId4">
            <a:alphaModFix/>
          </a:blip>
          <a:srcRect b="0" l="3288" r="3288" t="0"/>
          <a:stretch/>
        </p:blipFill>
        <p:spPr>
          <a:xfrm>
            <a:off x="8251092" y="1931946"/>
            <a:ext cx="2919300" cy="2919300"/>
          </a:xfrm>
          <a:prstGeom prst="ellipse">
            <a:avLst/>
          </a:prstGeom>
          <a:solidFill>
            <a:srgbClr val="EDEFF7"/>
          </a:solidFill>
          <a:ln cap="flat" cmpd="sng" w="38100">
            <a:solidFill>
              <a:srgbClr val="61D83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9" name="Google Shape;289;gc84b7fe519_0_5"/>
          <p:cNvPicPr preferRelativeResize="0"/>
          <p:nvPr/>
        </p:nvPicPr>
        <p:blipFill rotWithShape="1">
          <a:blip r:embed="rId5">
            <a:alphaModFix/>
          </a:blip>
          <a:srcRect b="26102" l="18397" r="14922" t="-26112"/>
          <a:stretch/>
        </p:blipFill>
        <p:spPr>
          <a:xfrm>
            <a:off x="1021592" y="1931946"/>
            <a:ext cx="2919300" cy="2919300"/>
          </a:xfrm>
          <a:prstGeom prst="ellipse">
            <a:avLst/>
          </a:prstGeom>
          <a:solidFill>
            <a:srgbClr val="EDEFF7"/>
          </a:solidFill>
          <a:ln cap="flat" cmpd="sng" w="38100">
            <a:solidFill>
              <a:srgbClr val="61D83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0" name="Google Shape;290;gc84b7fe519_0_5"/>
          <p:cNvSpPr txBox="1"/>
          <p:nvPr>
            <p:ph type="title"/>
          </p:nvPr>
        </p:nvSpPr>
        <p:spPr>
          <a:xfrm>
            <a:off x="2934150" y="288150"/>
            <a:ext cx="63237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100">
                <a:solidFill>
                  <a:srgbClr val="0C343D"/>
                </a:solidFill>
                <a:latin typeface="Consolas"/>
                <a:ea typeface="Consolas"/>
                <a:cs typeface="Consolas"/>
                <a:sym typeface="Consolas"/>
              </a:rPr>
              <a:t>THANK YOU!</a:t>
            </a:r>
            <a:endParaRPr b="1" sz="4100">
              <a:solidFill>
                <a:srgbClr val="0C343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1800"/>
          </a:p>
        </p:txBody>
      </p:sp>
      <p:sp>
        <p:nvSpPr>
          <p:cNvPr id="291" name="Google Shape;291;gc84b7fe519_0_5"/>
          <p:cNvSpPr txBox="1"/>
          <p:nvPr/>
        </p:nvSpPr>
        <p:spPr>
          <a:xfrm>
            <a:off x="3446171" y="1011330"/>
            <a:ext cx="5255700" cy="7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3300" u="none" cap="none" strike="noStrike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-US" sz="2600">
                <a:solidFill>
                  <a:srgbClr val="B45F06"/>
                </a:solidFill>
                <a:latin typeface="Comic Sans MS"/>
                <a:ea typeface="Comic Sans MS"/>
                <a:cs typeface="Comic Sans MS"/>
                <a:sym typeface="Comic Sans MS"/>
              </a:rPr>
              <a:t>Any </a:t>
            </a:r>
            <a:r>
              <a:rPr b="1" i="0" lang="en-US" sz="2600" u="none" cap="none" strike="noStrike">
                <a:solidFill>
                  <a:srgbClr val="B45F06"/>
                </a:solidFill>
                <a:latin typeface="Comic Sans MS"/>
                <a:ea typeface="Comic Sans MS"/>
                <a:cs typeface="Comic Sans MS"/>
                <a:sym typeface="Comic Sans MS"/>
              </a:rPr>
              <a:t>Questions ?</a:t>
            </a:r>
            <a:endParaRPr b="1" i="0" sz="2600" u="none" cap="none" strike="noStrike">
              <a:solidFill>
                <a:srgbClr val="B45F0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292" name="Google Shape;292;gc84b7fe519_0_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926" y="6344237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caa72f3f71_0_76"/>
          <p:cNvSpPr txBox="1"/>
          <p:nvPr>
            <p:ph type="title"/>
          </p:nvPr>
        </p:nvSpPr>
        <p:spPr>
          <a:xfrm>
            <a:off x="1097275" y="421848"/>
            <a:ext cx="10058400" cy="53544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Appendix</a:t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caa72f4994_0_0"/>
          <p:cNvSpPr txBox="1"/>
          <p:nvPr>
            <p:ph idx="1" type="body"/>
          </p:nvPr>
        </p:nvSpPr>
        <p:spPr>
          <a:xfrm>
            <a:off x="1097275" y="626450"/>
            <a:ext cx="10058400" cy="5242500"/>
          </a:xfrm>
          <a:prstGeom prst="rect">
            <a:avLst/>
          </a:prstGeom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Comic Sans MS"/>
              <a:buChar char=" "/>
            </a:pP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Survey link : </a:t>
            </a:r>
            <a:r>
              <a:rPr lang="en-US" sz="1750">
                <a:solidFill>
                  <a:srgbClr val="0236B9"/>
                </a:solidFill>
                <a:highlight>
                  <a:schemeClr val="lt1"/>
                </a:highlight>
                <a:uFill>
                  <a:noFill/>
                </a:uFill>
                <a:latin typeface="Comic Sans MS"/>
                <a:ea typeface="Comic Sans MS"/>
                <a:cs typeface="Comic Sans MS"/>
                <a:sym typeface="Comic Sans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https://bit.ly/2NQxc02</a:t>
            </a:r>
            <a:endParaRPr sz="25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 "/>
            </a:pP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gcaa72f499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caa72f3f71_0_53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45F06"/>
                </a:solidFill>
                <a:latin typeface="Consolas"/>
                <a:ea typeface="Consolas"/>
                <a:cs typeface="Consolas"/>
                <a:sym typeface="Consolas"/>
              </a:rPr>
              <a:t>Target Market</a:t>
            </a:r>
            <a:endParaRPr>
              <a:solidFill>
                <a:srgbClr val="B45F0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09" name="Google Shape;309;gcaa72f3f71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21401"/>
            <a:ext cx="238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caa72f3f71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8925" y="2417825"/>
            <a:ext cx="1699425" cy="169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gcaa72f3f71_0_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875" y="2207870"/>
            <a:ext cx="1699425" cy="1833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caa72f3f71_0_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8450" y="2218725"/>
            <a:ext cx="1815981" cy="18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caa72f3f71_0_53"/>
          <p:cNvSpPr txBox="1"/>
          <p:nvPr/>
        </p:nvSpPr>
        <p:spPr>
          <a:xfrm>
            <a:off x="884900" y="4449100"/>
            <a:ext cx="2679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Students</a:t>
            </a:r>
            <a:endParaRPr sz="22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4" name="Google Shape;314;gcaa72f3f71_0_53"/>
          <p:cNvSpPr txBox="1"/>
          <p:nvPr/>
        </p:nvSpPr>
        <p:spPr>
          <a:xfrm>
            <a:off x="4786825" y="4381700"/>
            <a:ext cx="2679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Professionals</a:t>
            </a:r>
            <a:endParaRPr sz="22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5" name="Google Shape;315;gcaa72f3f71_0_53"/>
          <p:cNvSpPr txBox="1"/>
          <p:nvPr/>
        </p:nvSpPr>
        <p:spPr>
          <a:xfrm>
            <a:off x="7694725" y="4338475"/>
            <a:ext cx="4111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C4587"/>
                </a:solidFill>
                <a:latin typeface="Comic Sans MS"/>
                <a:ea typeface="Comic Sans MS"/>
                <a:cs typeface="Comic Sans MS"/>
                <a:sym typeface="Comic Sans MS"/>
              </a:rPr>
              <a:t>Educational Institutions </a:t>
            </a:r>
            <a:endParaRPr sz="2200">
              <a:solidFill>
                <a:srgbClr val="1C4587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16" name="Google Shape;316;gcaa72f3f71_0_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caa72f3f71_0_64"/>
          <p:cNvSpPr txBox="1"/>
          <p:nvPr>
            <p:ph type="title"/>
          </p:nvPr>
        </p:nvSpPr>
        <p:spPr>
          <a:xfrm>
            <a:off x="1097280" y="421817"/>
            <a:ext cx="10058400" cy="13692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Revenue Stream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2" name="Google Shape;322;gcaa72f3f71_0_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43417"/>
            <a:ext cx="112776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caa72f3f71_0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caa72f3f71_0_69"/>
          <p:cNvSpPr/>
          <p:nvPr/>
        </p:nvSpPr>
        <p:spPr>
          <a:xfrm>
            <a:off x="8303775" y="1485900"/>
            <a:ext cx="2685300" cy="1311000"/>
          </a:xfrm>
          <a:prstGeom prst="horizontalScroll">
            <a:avLst>
              <a:gd fmla="val 12500" name="adj"/>
            </a:avLst>
          </a:prstGeom>
          <a:solidFill>
            <a:srgbClr val="FFE5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Advertisement </a:t>
            </a:r>
            <a:endParaRPr sz="1800">
              <a:solidFill>
                <a:srgbClr val="66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9" name="Google Shape;329;gcaa72f3f71_0_69"/>
          <p:cNvSpPr/>
          <p:nvPr/>
        </p:nvSpPr>
        <p:spPr>
          <a:xfrm>
            <a:off x="4587100" y="5374747"/>
            <a:ext cx="2828700" cy="1381200"/>
          </a:xfrm>
          <a:prstGeom prst="horizontalScroll">
            <a:avLst>
              <a:gd fmla="val 12500" name="adj"/>
            </a:avLst>
          </a:prstGeom>
          <a:solidFill>
            <a:srgbClr val="9FC5E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66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Teaching and learning material charges</a:t>
            </a:r>
            <a:endParaRPr sz="1700">
              <a:solidFill>
                <a:srgbClr val="66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0" name="Google Shape;330;gcaa72f3f71_0_69"/>
          <p:cNvSpPr/>
          <p:nvPr/>
        </p:nvSpPr>
        <p:spPr>
          <a:xfrm>
            <a:off x="936975" y="1703850"/>
            <a:ext cx="2685300" cy="1239000"/>
          </a:xfrm>
          <a:prstGeom prst="horizontalScroll">
            <a:avLst>
              <a:gd fmla="val 12500" name="adj"/>
            </a:avLst>
          </a:prstGeom>
          <a:solidFill>
            <a:srgbClr val="B6D7A8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666666"/>
                </a:solidFill>
                <a:latin typeface="Comic Sans MS"/>
                <a:ea typeface="Comic Sans MS"/>
                <a:cs typeface="Comic Sans MS"/>
                <a:sym typeface="Comic Sans MS"/>
              </a:rPr>
              <a:t>Course subscription</a:t>
            </a:r>
            <a:endParaRPr sz="1900">
              <a:solidFill>
                <a:srgbClr val="6666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31" name="Google Shape;331;gcaa72f3f71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125" y="1666905"/>
            <a:ext cx="3894450" cy="3537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caa72f3f71_0_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5301" y="6265875"/>
            <a:ext cx="1050149" cy="4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2020-11-14T23:53:09Z</dcterms:created>
  <dc:creator>Rakibul Islam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0x010100FB5F36B7F5854647AEEB11E2371F9DD9</vt:lpwstr>
  </property>
</Properties>
</file>